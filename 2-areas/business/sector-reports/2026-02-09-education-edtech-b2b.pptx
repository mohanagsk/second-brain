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Education &amp; EdTech (B2B)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Sector Deep Dive v2 | February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India has 260M students, but only 42.6% of graduates are employable</a:t>
            </a:r>
          </a:p>
          <a:p>
            <a:pPr>
              <a:spcAft>
                <a:spcPts val="1200"/>
              </a:spcAft>
              <a:defRPr sz="2000"/>
            </a:pPr>
            <a:r>
              <a:t>• B2C EdTech (Byju's, Vedantu) crashed — B2B EdTech grew 20%+ through the chaos</a:t>
            </a:r>
          </a:p>
          <a:p>
            <a:pPr>
              <a:spcAft>
                <a:spcPts val="1200"/>
              </a:spcAft>
              <a:defRPr sz="2000"/>
            </a:pPr>
            <a:r>
              <a:t>• Corporate LMS market → ₹1,400 crore by 2035 (9.27% CAGR)</a:t>
            </a:r>
          </a:p>
          <a:p>
            <a:pPr>
              <a:spcAft>
                <a:spcPts val="1200"/>
              </a:spcAft>
              <a:defRPr sz="2000"/>
            </a:pPr>
            <a:r>
              <a:t>• Broader India LMS → $5.15 billion by 2033 (21.66% CAGR)</a:t>
            </a:r>
          </a:p>
          <a:p>
            <a:pPr>
              <a:spcAft>
                <a:spcPts val="1200"/>
              </a:spcAft>
              <a:defRPr sz="2000"/>
            </a:pPr>
            <a:r>
              <a:t>• 63 in 100 Indian workers need training by 2030 — 47M skill gap by FY27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MARKET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India LMS Market 2025: $1.07 billion → $5.15B by 2033</a:t>
            </a:r>
          </a:p>
          <a:p>
            <a:pPr>
              <a:spcAft>
                <a:spcPts val="1200"/>
              </a:spcAft>
              <a:defRPr sz="2000"/>
            </a:pPr>
            <a:r>
              <a:t>• India Corporate LMS 2035: ₹1,409 crore (~$165M)</a:t>
            </a:r>
          </a:p>
          <a:p>
            <a:pPr>
              <a:spcAft>
                <a:spcPts val="1200"/>
              </a:spcAft>
              <a:defRPr sz="2000"/>
            </a:pPr>
            <a:r>
              <a:t>• Global LMS 2025: $30.92B → $100.7B by 2032 (18.4% CAGR)</a:t>
            </a:r>
          </a:p>
          <a:p>
            <a:pPr>
              <a:spcAft>
                <a:spcPts val="1200"/>
              </a:spcAft>
              <a:defRPr sz="2000"/>
            </a:pPr>
            <a:r>
              <a:t>• EdTech SaaS Funding 2025: $35.8M across 21 rounds</a:t>
            </a:r>
          </a:p>
          <a:p>
            <a:pPr>
              <a:spcAft>
                <a:spcPts val="1200"/>
              </a:spcAft>
              <a:defRPr sz="2000"/>
            </a:pPr>
            <a:r>
              <a:t>• Graduate employability dropped: 44.3% (2023) → 42.6% (2025)</a:t>
            </a:r>
          </a:p>
          <a:p>
            <a:pPr>
              <a:spcAft>
                <a:spcPts val="1200"/>
              </a:spcAft>
              <a:defRPr sz="2000"/>
            </a:pPr>
            <a:r>
              <a:t>• 70M+ workers may not get training they need by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GRAVEYARD — What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Byju's: $22B → $0. Aggressive acquisitions, broken unit economics</a:t>
            </a:r>
          </a:p>
          <a:p>
            <a:pPr>
              <a:spcAft>
                <a:spcPts val="1200"/>
              </a:spcAft>
              <a:defRPr sz="2000"/>
            </a:pPr>
            <a:r>
              <a:t>• Lido Learning: Raised $25M, shut overnight. 1,200 employees, zero runway</a:t>
            </a:r>
          </a:p>
          <a:p>
            <a:pPr>
              <a:spcAft>
                <a:spcPts val="1200"/>
              </a:spcAft>
              <a:defRPr sz="2000"/>
            </a:pPr>
            <a:r>
              <a:t>• WhiteHat Jr: $300M acquisition → gutted. Mass resignations</a:t>
            </a:r>
          </a:p>
          <a:p>
            <a:pPr>
              <a:spcAft>
                <a:spcPts val="1200"/>
              </a:spcAft>
              <a:defRPr sz="2000"/>
            </a:pPr>
            <a:r>
              <a:t>• Vedantu: 600+ layoffs, valuation cut 90%. Live classes don't scale</a:t>
            </a:r>
          </a:p>
          <a:p>
            <a:pPr>
              <a:spcAft>
                <a:spcPts val="1200"/>
              </a:spcAft>
              <a:defRPr sz="2000"/>
            </a:pPr>
            <a:r>
              <a:t>• Lesson: Growth ≠ business. B2C EdTech has broken economics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WINNERS — What's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LEAD School ($172M, ₹6,350 crore val): Full-stack school transformation</a:t>
            </a:r>
          </a:p>
          <a:p>
            <a:pPr>
              <a:spcAft>
                <a:spcPts val="1200"/>
              </a:spcAft>
              <a:defRPr sz="2000"/>
            </a:pPr>
            <a:r>
              <a:t>• Disprz: AI skilling for Amazon, HDFC, Indian Oil. 3.5M learners</a:t>
            </a:r>
          </a:p>
          <a:p>
            <a:pPr>
              <a:spcAft>
                <a:spcPts val="1200"/>
              </a:spcAft>
              <a:defRPr sz="2000"/>
            </a:pPr>
            <a:r>
              <a:t>• Classplus ($160M): 10,000+ coaching centers, pivoting to content</a:t>
            </a:r>
          </a:p>
          <a:p>
            <a:pPr>
              <a:spcAft>
                <a:spcPts val="1200"/>
              </a:spcAft>
              <a:defRPr sz="2000"/>
            </a:pPr>
            <a:r>
              <a:t>• Whatfix ($140M+): Train people INSIDE software, not separate LMS</a:t>
            </a:r>
          </a:p>
          <a:p>
            <a:pPr>
              <a:spcAft>
                <a:spcPts val="1200"/>
              </a:spcAft>
              <a:defRPr sz="2000"/>
            </a:pPr>
            <a:r>
              <a:t>• Physics Wallah: YouTube-first, profitable, affordable pricing</a:t>
            </a:r>
          </a:p>
          <a:p>
            <a:pPr>
              <a:spcAft>
                <a:spcPts val="1200"/>
              </a:spcAft>
              <a:defRPr sz="2000"/>
            </a:pPr>
            <a:r>
              <a:t>• Pattern: B2B wins. Outcomes &gt; content. Own teachers, not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STAKEHOLDER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Direct: Students, Teachers, Principals, Corporate L&amp;D, Parents</a:t>
            </a:r>
          </a:p>
          <a:p>
            <a:pPr>
              <a:spcAft>
                <a:spcPts val="1200"/>
              </a:spcAft>
              <a:defRPr sz="2000"/>
            </a:pPr>
            <a:r>
              <a:t>• Indirect: Government (NCERT/UGC/AICTE), Publishers, Assessment Bodies</a:t>
            </a:r>
          </a:p>
          <a:p>
            <a:pPr>
              <a:spcAft>
                <a:spcPts val="1200"/>
              </a:spcAft>
              <a:defRPr sz="2000"/>
            </a:pPr>
            <a:r>
              <a:t>• Ecosystem: School Trusts, Coaching Associations, NASSCOM, FICCI</a:t>
            </a:r>
          </a:p>
          <a:p>
            <a:pPr>
              <a:spcAft>
                <a:spcPts val="1200"/>
              </a:spcAft>
              <a:defRPr sz="2000"/>
            </a:pPr>
            <a:r>
              <a:t>• Funding: CSR Foundations, World Bank/USAID, State Skill Missions</a:t>
            </a:r>
          </a:p>
          <a:p>
            <a:pPr>
              <a:spcAft>
                <a:spcPts val="1200"/>
              </a:spcAft>
              <a:defRPr sz="2000"/>
            </a:pPr>
            <a:r>
              <a:t>• Decision Path: School trust → Principal → Admin → Teacher adoption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VALIDATION INTERVIEWS — 10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Private school principal (10+ yrs) — buying behavior, budgets</a:t>
            </a:r>
          </a:p>
          <a:p>
            <a:pPr>
              <a:spcAft>
                <a:spcPts val="1200"/>
              </a:spcAft>
              <a:defRPr sz="2000"/>
            </a:pPr>
            <a:r>
              <a:t>• School ERP admin — what breaks daily</a:t>
            </a:r>
          </a:p>
          <a:p>
            <a:pPr>
              <a:spcAft>
                <a:spcPts val="1200"/>
              </a:spcAft>
              <a:defRPr sz="2000"/>
            </a:pPr>
            <a:r>
              <a:t>• Coaching owner (&lt;100 students) — can they afford SaaS?</a:t>
            </a:r>
          </a:p>
          <a:p>
            <a:pPr>
              <a:spcAft>
                <a:spcPts val="1200"/>
              </a:spcAft>
              <a:defRPr sz="2000"/>
            </a:pPr>
            <a:r>
              <a:t>• L&amp;D Manager (500-2000 employees) — vendor selection</a:t>
            </a:r>
          </a:p>
          <a:p>
            <a:pPr>
              <a:spcAft>
                <a:spcPts val="1200"/>
              </a:spcAft>
              <a:defRPr sz="2000"/>
            </a:pPr>
            <a:r>
              <a:t>• Factory floor supervisor — how is training done?</a:t>
            </a:r>
          </a:p>
          <a:p>
            <a:pPr>
              <a:spcAft>
                <a:spcPts val="1200"/>
              </a:spcAft>
              <a:defRPr sz="2000"/>
            </a:pPr>
            <a:r>
              <a:t>• BPO training head — volume training, attrition</a:t>
            </a:r>
          </a:p>
          <a:p>
            <a:pPr>
              <a:spcAft>
                <a:spcPts val="1200"/>
              </a:spcAft>
              <a:defRPr sz="2000"/>
            </a:pPr>
            <a:r>
              <a:t>• Compliance officer — POSH, data privacy gaps</a:t>
            </a:r>
          </a:p>
          <a:p>
            <a:pPr>
              <a:spcAft>
                <a:spcPts val="1200"/>
              </a:spcAft>
              <a:defRPr sz="2000"/>
            </a:pPr>
            <a:r>
              <a:t>• Blue-collar HR — vernacular training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GSRO — Government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NEP 2020: Digital-first, vocational focus, ABC credits system</a:t>
            </a:r>
          </a:p>
          <a:p>
            <a:pPr>
              <a:spcAft>
                <a:spcPts val="1200"/>
              </a:spcAft>
              <a:defRPr sz="2000"/>
            </a:pPr>
            <a:r>
              <a:t>• DIKSHA: 100M+ users, needs vendor integration opportunities</a:t>
            </a:r>
          </a:p>
          <a:p>
            <a:pPr>
              <a:spcAft>
                <a:spcPts val="1200"/>
              </a:spcAft>
              <a:defRPr sz="2000"/>
            </a:pPr>
            <a:r>
              <a:t>• SWAYAM: Credit-bearing MOOCs, B2G opportunity</a:t>
            </a:r>
          </a:p>
          <a:p>
            <a:pPr>
              <a:spcAft>
                <a:spcPts val="1200"/>
              </a:spcAft>
              <a:defRPr sz="2000"/>
            </a:pPr>
            <a:r>
              <a:t>• PMKVY: ₹5K-15K per certification for training partners</a:t>
            </a:r>
          </a:p>
          <a:p>
            <a:pPr>
              <a:spcAft>
                <a:spcPts val="1200"/>
              </a:spcAft>
              <a:defRPr sz="2000"/>
            </a:pPr>
            <a:r>
              <a:t>• NSDC: 40+ sector skill councils, entry point for upskilling</a:t>
            </a:r>
          </a:p>
          <a:p>
            <a:pPr>
              <a:spcAft>
                <a:spcPts val="1200"/>
              </a:spcAft>
              <a:defRPr sz="2000"/>
            </a:pPr>
            <a:r>
              <a:t>• UGC: Now allows 100% online degrees — massive shift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TOP PICK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Vernacular Corporate Training Platform</a:t>
            </a:r>
            <a:br/>
            <a:br/>
            <a:r>
              <a:t>Zero competitors. 500M workers. 10% of enterprise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