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/>
            </a:pPr>
            <a:r>
              <a:t>🚛 Logistics &amp; Supply Chain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/>
            </a:pPr>
            <a:r>
              <a:t>Business Idea Analyzer v2 | Feb 6, 2026</a:t>
            </a:r>
            <a:br/>
            <a:r>
              <a:t>Shashank Framework Deep Dive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74320"/>
            <a:ext cx="8595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📖 The Story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• India spends 14-16% of GDP on logistics (vs 8% in developed nations)</a:t>
            </a:r>
          </a:p>
          <a:p>
            <a:pPr>
              <a:spcAft>
                <a:spcPts val="1000"/>
              </a:spcAft>
              <a:defRPr sz="1800"/>
            </a:pPr>
            <a:r>
              <a:t>• $350B+ market with massive inefficiency — trucks run empty 40% of time</a:t>
            </a:r>
          </a:p>
          <a:p>
            <a:pPr>
              <a:spcAft>
                <a:spcPts val="1000"/>
              </a:spcAft>
              <a:defRPr sz="1800"/>
            </a:pPr>
            <a:r>
              <a:t>• National Logistics Policy aims to cut costs to 8% of GDP</a:t>
            </a:r>
          </a:p>
          <a:p>
            <a:pPr>
              <a:spcAft>
                <a:spcPts val="1000"/>
              </a:spcAft>
              <a:defRPr sz="1800"/>
            </a:pPr>
            <a:r>
              <a:t>• That's $100B+ in inefficiency waiting to be captured</a:t>
            </a:r>
          </a:p>
          <a:p>
            <a:pPr>
              <a:spcAft>
                <a:spcPts val="1000"/>
              </a:spcAft>
              <a:defRPr sz="1800"/>
            </a:pPr>
            <a:r>
              <a:t>• PM Gati Shakti digitally integrates 16 ministries for infra planning</a:t>
            </a:r>
          </a:p>
          <a:p>
            <a:pPr>
              <a:spcAft>
                <a:spcPts val="1000"/>
              </a:spcAft>
              <a:defRPr sz="1800"/>
            </a:pPr>
            <a:r>
              <a:t>• Budget 2026: ₹5.98 lakh crore allocated for transport sector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💰 Market Numbers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822960"/>
          <a:ext cx="859536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8840"/>
                <a:gridCol w="2148840"/>
                <a:gridCol w="2148840"/>
                <a:gridCol w="2148840"/>
              </a:tblGrid>
              <a:tr h="365760">
                <a:tc>
                  <a:txBody>
                    <a:bodyPr/>
                    <a:lstStyle/>
                    <a:p>
                      <a:pPr>
                        <a:defRPr b="1" sz="1200"/>
                      </a:pPr>
                      <a:r>
                        <a:t>Segment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200"/>
                      </a:pPr>
                      <a:r>
                        <a:t>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200"/>
                      </a:pPr>
                      <a:r>
                        <a:t>2030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200"/>
                      </a:pPr>
                      <a:r>
                        <a:t>CAGR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E-commerce Logistics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$6.65B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$10.29B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9.11%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D2C Logistics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$7.55B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$10.29B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6.39%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CEP (Courier Express)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$5.68B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$9.35B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10.51%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Total Logistics Market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$350B+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$500B+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~8%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🏆 Competitive Landscape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822960"/>
          <a:ext cx="859536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8840"/>
                <a:gridCol w="2148840"/>
                <a:gridCol w="2148840"/>
                <a:gridCol w="2148840"/>
              </a:tblGrid>
              <a:tr h="365760">
                <a:tc>
                  <a:txBody>
                    <a:bodyPr/>
                    <a:lstStyle/>
                    <a:p>
                      <a:pPr>
                        <a:defRPr b="1" sz="1200"/>
                      </a:pPr>
                      <a:r>
                        <a:t>Company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200"/>
                      </a:pPr>
                      <a:r>
                        <a:t>Focus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200"/>
                      </a:pPr>
                      <a:r>
                        <a:t>Strength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200"/>
                      </a:pPr>
                      <a:r>
                        <a:t>Gap to Exploit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Delhivery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Full-stack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Scale, tech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SMB neglect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XpressBees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E-commerce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Speed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Profitability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Shiprocket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Aggregation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SMB easy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Just matching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Locus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Route AI SaaS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Tech moat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Enterprise only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Traditional 3PLs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Physical ops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Relationships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No tech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74320"/>
            <a:ext cx="8595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🗺️ Stakeholder Ecosystem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• REGULATORS: MoRTH, GST Council, State RTOs — Control compliance</a:t>
            </a:r>
          </a:p>
          <a:p>
            <a:pPr>
              <a:spcAft>
                <a:spcPts val="1000"/>
              </a:spcAft>
              <a:defRPr sz="1800"/>
            </a:pPr>
            <a:r>
              <a:t>• SUPPLIERS: Truck OEMs, fuel companies, packaging — Input costs</a:t>
            </a:r>
          </a:p>
          <a:p>
            <a:pPr>
              <a:spcAft>
                <a:spcPts val="1000"/>
              </a:spcAft>
              <a:defRPr sz="1800"/>
            </a:pPr>
            <a:r>
              <a:t>• OPERATORS: Shippers, carriers, 3PLs, freight forwarders — Core ops</a:t>
            </a:r>
          </a:p>
          <a:p>
            <a:pPr>
              <a:spcAft>
                <a:spcPts val="1000"/>
              </a:spcAft>
              <a:defRPr sz="1800"/>
            </a:pPr>
            <a:r>
              <a:t>• CUSTOMERS: E-commerce, D2C, manufacturers, retailers — Demand</a:t>
            </a:r>
          </a:p>
          <a:p>
            <a:pPr>
              <a:spcAft>
                <a:spcPts val="1000"/>
              </a:spcAft>
              <a:defRPr sz="1800"/>
            </a:pPr>
            <a:r>
              <a:t>• ENABLERS: GPS/IoT providers, telecom, maps — Infrastructure</a:t>
            </a:r>
          </a:p>
          <a:p>
            <a:pPr>
              <a:spcAft>
                <a:spcPts val="1000"/>
              </a:spcAft>
              <a:defRPr sz="1800"/>
            </a:pPr>
            <a:r>
              <a:t>• FINANCE: Banks, NBFCs, factoring companies — Cash flow</a:t>
            </a:r>
          </a:p>
          <a:p>
            <a:pPr>
              <a:spcAft>
                <a:spcPts val="1000"/>
              </a:spcAft>
              <a:defRPr sz="1800"/>
            </a:pPr>
            <a:r>
              <a:t>• HIDDEN: Transport associations, CAs, insurance — Influence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🎤 Validation Interview Targets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822960"/>
          <a:ext cx="859536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65120"/>
                <a:gridCol w="2865120"/>
                <a:gridCol w="2865120"/>
              </a:tblGrid>
              <a:tr h="365760">
                <a:tc>
                  <a:txBody>
                    <a:bodyPr/>
                    <a:lstStyle/>
                    <a:p>
                      <a:pPr>
                        <a:defRPr b="1" sz="1200"/>
                      </a:pPr>
                      <a:r>
                        <a:t>Who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200"/>
                      </a:pPr>
                      <a:r>
                        <a:t>Why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200"/>
                      </a:pPr>
                      <a:r>
                        <a:t>Key Question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Fleet Owner (1-5 trucks)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Lives fragmentation pain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How do you find loads?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Long-haul Driver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Ground truth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What's your daily struggle?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SMB Manufacturer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Ignored shipper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How do you ship? What breaks?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Ex-Delhivery Ops Manager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Scale insights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What's hardest to solve?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Traditional Freight Broker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Trust dynamics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How do you match loads?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Failed Logistics Founder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Expensive lessons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What killed your startup?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E-commerce D2C Seller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Multi-carrier user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Why switch shipping partners?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74320"/>
            <a:ext cx="8595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🏛️ Government &amp; Research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• National Logistics Policy: Target &lt;8% of GDP logistics cost</a:t>
            </a:r>
          </a:p>
          <a:p>
            <a:pPr>
              <a:spcAft>
                <a:spcPts val="1000"/>
              </a:spcAft>
              <a:defRPr sz="1800"/>
            </a:pPr>
            <a:r>
              <a:t>• PM Gati Shakti: 16 ministries integrated, infrastructure planning</a:t>
            </a:r>
          </a:p>
          <a:p>
            <a:pPr>
              <a:spcAft>
                <a:spcPts val="1000"/>
              </a:spcAft>
              <a:defRPr sz="1800"/>
            </a:pPr>
            <a:r>
              <a:t>• ULIP: 35+ logistics APIs — build on government data layer</a:t>
            </a:r>
          </a:p>
          <a:p>
            <a:pPr>
              <a:spcAft>
                <a:spcPts val="1000"/>
              </a:spcAft>
              <a:defRPr sz="1800"/>
            </a:pPr>
            <a:r>
              <a:t>• E-way Bill: 100M+ per month — compliance automation opportunity</a:t>
            </a:r>
          </a:p>
          <a:p>
            <a:pPr>
              <a:spcAft>
                <a:spcPts val="1000"/>
              </a:spcAft>
              <a:defRPr sz="1800"/>
            </a:pPr>
            <a:r>
              <a:t>• Sagarmala (ports) + Bharatmala (highways) — corridors improving</a:t>
            </a:r>
          </a:p>
          <a:p>
            <a:pPr>
              <a:spcAft>
                <a:spcPts val="1000"/>
              </a:spcAft>
              <a:defRPr sz="1800"/>
            </a:pPr>
            <a:r>
              <a:t>• Key sources: MoRTH, ULIP, GST Portal, IBEF, Invest India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74320"/>
            <a:ext cx="8595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🎯 Top 3 Startup Opportunities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• 1. SMB LOGISTICS OS: WhatsApp-first TMS for 100-1000 shipments/mo manufacturers</a:t>
            </a:r>
          </a:p>
          <a:p>
            <a:pPr>
              <a:spcAft>
                <a:spcPts val="1000"/>
              </a:spcAft>
              <a:defRPr sz="1800"/>
            </a:pPr>
            <a:r>
              <a:t>•    → $50-200/mo SaaS, vernacular, ULIP-integrated</a:t>
            </a:r>
          </a:p>
          <a:p>
            <a:pPr>
              <a:spcAft>
                <a:spcPts val="1000"/>
              </a:spcAft>
              <a:defRPr sz="1800"/>
            </a:pPr>
            <a:r>
              <a:t>• </a:t>
            </a:r>
          </a:p>
          <a:p>
            <a:pPr>
              <a:spcAft>
                <a:spcPts val="1000"/>
              </a:spcAft>
              <a:defRPr sz="1800"/>
            </a:pPr>
            <a:r>
              <a:t>• 2. FLEET OWNER FINTECH: Instant payment + credit for 1-10 truck owners</a:t>
            </a:r>
          </a:p>
          <a:p>
            <a:pPr>
              <a:spcAft>
                <a:spcPts val="1000"/>
              </a:spcAft>
              <a:defRPr sz="1800"/>
            </a:pPr>
            <a:r>
              <a:t>•    → Data from ops → credit scoring, interest spread + SaaS</a:t>
            </a:r>
          </a:p>
          <a:p>
            <a:pPr>
              <a:spcAft>
                <a:spcPts val="1000"/>
              </a:spcAft>
              <a:defRPr sz="1800"/>
            </a:pPr>
            <a:r>
              <a:t>• </a:t>
            </a:r>
          </a:p>
          <a:p>
            <a:pPr>
              <a:spcAft>
                <a:spcPts val="1000"/>
              </a:spcAft>
              <a:defRPr sz="1800"/>
            </a:pPr>
            <a:r>
              <a:t>• 3. COLD CHAIN VISIBILITY: IoT + real-time monitoring for pharma/F&amp;B</a:t>
            </a:r>
          </a:p>
          <a:p>
            <a:pPr>
              <a:spcAft>
                <a:spcPts val="1000"/>
              </a:spcAft>
              <a:defRPr sz="1800"/>
            </a:pPr>
            <a:r>
              <a:t>•    → Per-shipment fee, high wastage = high WTP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74320"/>
            <a:ext cx="8595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✅ Immediate Action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• THIS WEEK:</a:t>
            </a:r>
          </a:p>
          <a:p>
            <a:pPr>
              <a:spcAft>
                <a:spcPts val="1000"/>
              </a:spcAft>
              <a:defRPr sz="1800"/>
            </a:pPr>
            <a:r>
              <a:t>•   • Talk to 3 fleet owners at local transport nagar</a:t>
            </a:r>
          </a:p>
          <a:p>
            <a:pPr>
              <a:spcAft>
                <a:spcPts val="1000"/>
              </a:spcAft>
              <a:defRPr sz="1800"/>
            </a:pPr>
            <a:r>
              <a:t>•   • Interview 2 SMB manufacturers who ship goods</a:t>
            </a:r>
          </a:p>
          <a:p>
            <a:pPr>
              <a:spcAft>
                <a:spcPts val="1000"/>
              </a:spcAft>
              <a:defRPr sz="1800"/>
            </a:pPr>
            <a:r>
              <a:t>•   • Sign up for Shiprocket/Porter to understand UX</a:t>
            </a:r>
          </a:p>
          <a:p>
            <a:pPr>
              <a:spcAft>
                <a:spcPts val="1000"/>
              </a:spcAft>
              <a:defRPr sz="1800"/>
            </a:pPr>
            <a:r>
              <a:t>• </a:t>
            </a:r>
          </a:p>
          <a:p>
            <a:pPr>
              <a:spcAft>
                <a:spcPts val="1000"/>
              </a:spcAft>
              <a:defRPr sz="1800"/>
            </a:pPr>
            <a:r>
              <a:t>• THIS MONTH:</a:t>
            </a:r>
          </a:p>
          <a:p>
            <a:pPr>
              <a:spcAft>
                <a:spcPts val="1000"/>
              </a:spcAft>
              <a:defRPr sz="1800"/>
            </a:pPr>
            <a:r>
              <a:t>•   • Map all competitors and their pricing</a:t>
            </a:r>
          </a:p>
          <a:p>
            <a:pPr>
              <a:spcAft>
                <a:spcPts val="1000"/>
              </a:spcAft>
              <a:defRPr sz="1800"/>
            </a:pPr>
            <a:r>
              <a:t>•   • Find 1 ex-Delhivery/Rivigo insider for context</a:t>
            </a:r>
          </a:p>
          <a:p>
            <a:pPr>
              <a:spcAft>
                <a:spcPts val="1000"/>
              </a:spcAft>
              <a:defRPr sz="1800"/>
            </a:pPr>
            <a:r>
              <a:t>•   • Read ULIP API documentation (ulip.dpiit.gov.in)</a:t>
            </a:r>
          </a:p>
          <a:p>
            <a:pPr>
              <a:spcAft>
                <a:spcPts val="1000"/>
              </a:spcAft>
              <a:defRPr sz="1800"/>
            </a:pPr>
            <a:r>
              <a:t>•   • Test hypothesis with 10 potential customers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