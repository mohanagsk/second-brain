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Manufacturing &amp; Industrial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Business Idea Analyzer v2 | February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90% of Indian factories: Pray machines don't break</a:t>
            </a:r>
          </a:p>
          <a:p>
            <a:pPr>
              <a:spcAft>
                <a:spcPts val="1200"/>
              </a:spcAft>
              <a:defRPr sz="2200"/>
            </a:pPr>
            <a:r>
              <a:t>• When they do → ₹5-20 lakh lost per incident</a:t>
            </a:r>
          </a:p>
          <a:p>
            <a:pPr>
              <a:spcAft>
                <a:spcPts val="1200"/>
              </a:spcAft>
              <a:defRPr sz="2200"/>
            </a:pPr>
            <a:r>
              <a:t>• Industrial IoT: Sensors predict failures 48 hours ahead</a:t>
            </a:r>
          </a:p>
          <a:p>
            <a:pPr>
              <a:spcAft>
                <a:spcPts val="1200"/>
              </a:spcAft>
              <a:defRPr sz="2200"/>
            </a:pPr>
            <a:r>
              <a:t>• Only 8-12% of Indian factories have adopted it</a:t>
            </a:r>
          </a:p>
          <a:p>
            <a:pPr>
              <a:spcAft>
                <a:spcPts val="1200"/>
              </a:spcAft>
              <a:defRPr sz="2200"/>
            </a:pPr>
            <a:r>
              <a:t>• Why? Solutions built for Siemens Germany, not Ludhiana</a:t>
            </a:r>
          </a:p>
          <a:p>
            <a:pPr>
              <a:spcAft>
                <a:spcPts val="1200"/>
              </a:spcAft>
              <a:defRPr sz="2200"/>
            </a:pPr>
            <a:r>
              <a:t>• PLI scheme (₹76K Cr) forcing modernization</a:t>
            </a:r>
          </a:p>
          <a:p>
            <a:pPr>
              <a:spcAft>
                <a:spcPts val="1200"/>
              </a:spcAft>
              <a:defRPr sz="2200"/>
            </a:pPr>
            <a:r>
              <a:t>• Opportunity: Build for 6.3 crore MSMEs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Market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India IIoT 2024: $9.4 Billion</a:t>
            </a:r>
          </a:p>
          <a:p>
            <a:pPr>
              <a:spcAft>
                <a:spcPts val="1200"/>
              </a:spcAft>
              <a:defRPr sz="2200"/>
            </a:pPr>
            <a:r>
              <a:t>• India IIoT 2033: $28.15 Billion (12.9% CAGR)</a:t>
            </a:r>
          </a:p>
          <a:p>
            <a:pPr>
              <a:spcAft>
                <a:spcPts val="1200"/>
              </a:spcAft>
              <a:defRPr sz="2200"/>
            </a:pPr>
            <a:r>
              <a:t>• Global IIoT: $228B (2025) → $429B (2033)</a:t>
            </a:r>
          </a:p>
          <a:p>
            <a:pPr>
              <a:spcAft>
                <a:spcPts val="1200"/>
              </a:spcAft>
              <a:defRPr sz="2200"/>
            </a:pPr>
            <a:r>
              <a:t>• PLI Investments: ₹1.76 Lakh Crore realized</a:t>
            </a:r>
          </a:p>
          <a:p>
            <a:pPr>
              <a:spcAft>
                <a:spcPts val="1200"/>
              </a:spcAft>
              <a:defRPr sz="2200"/>
            </a:pPr>
            <a:r>
              <a:t>• 740 Manufacturing Startups (177 funded)</a:t>
            </a:r>
          </a:p>
          <a:p>
            <a:pPr>
              <a:spcAft>
                <a:spcPts val="1200"/>
              </a:spcAft>
              <a:defRPr sz="2200"/>
            </a:pPr>
            <a:r>
              <a:t>• Industry 4.0 adoption: Only 8-12% in India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Tech Stack: Holy Trinity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OPC-UA: Gold standard, secure (heavyweight)</a:t>
            </a:r>
          </a:p>
          <a:p>
            <a:pPr>
              <a:spcAft>
                <a:spcPts val="1200"/>
              </a:spcAft>
              <a:defRPr sz="2200"/>
            </a:pPr>
            <a:r>
              <a:t>• MQTT: Lightweight pub/sub, spotty networks</a:t>
            </a:r>
          </a:p>
          <a:p>
            <a:pPr>
              <a:spcAft>
                <a:spcPts val="1200"/>
              </a:spcAft>
              <a:defRPr sz="2200"/>
            </a:pPr>
            <a:r>
              <a:t>• Apache Kafka: Millions of events/sec, real-time</a:t>
            </a:r>
          </a:p>
          <a:p>
            <a:pPr>
              <a:spcAft>
                <a:spcPts val="1200"/>
              </a:spcAft>
              <a:defRPr sz="2200"/>
            </a:pPr>
            <a:r>
              <a:t>• Stack: Sensors → MQTT → Edge → Kafka → Cloud → AI</a:t>
            </a:r>
          </a:p>
          <a:p>
            <a:pPr>
              <a:spcAft>
                <a:spcPts val="1200"/>
              </a:spcAft>
              <a:defRPr sz="2200"/>
            </a:pPr>
            <a:r>
              <a:t>• India: Legacy machines, power issues, skills gap</a:t>
            </a:r>
          </a:p>
          <a:p>
            <a:pPr>
              <a:spcAft>
                <a:spcPts val="1200"/>
              </a:spcAft>
              <a:defRPr sz="2200"/>
            </a:pPr>
            <a:r>
              <a:t>• Opportunity: 'Install sensor, see graph'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Competitor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Altizon (India): Full IIoT, complex &amp; expensive</a:t>
            </a:r>
          </a:p>
          <a:p>
            <a:pPr>
              <a:spcAft>
                <a:spcPts val="1200"/>
              </a:spcAft>
              <a:defRPr sz="2200"/>
            </a:pPr>
            <a:r>
              <a:t>• Flutura: AI for assets, Oil &amp; Gas heavy</a:t>
            </a:r>
          </a:p>
          <a:p>
            <a:pPr>
              <a:spcAft>
                <a:spcPts val="1200"/>
              </a:spcAft>
              <a:defRPr sz="2200"/>
            </a:pPr>
            <a:r>
              <a:t>• C3.ai (US): Enterprise AI, $50K+/mo</a:t>
            </a:r>
          </a:p>
          <a:p>
            <a:pPr>
              <a:spcAft>
                <a:spcPts val="1200"/>
              </a:spcAft>
              <a:defRPr sz="2200"/>
            </a:pPr>
            <a:r>
              <a:t>• Samsara (US): Fleet + sensors</a:t>
            </a:r>
          </a:p>
          <a:p>
            <a:pPr>
              <a:spcAft>
                <a:spcPts val="1200"/>
              </a:spcAft>
              <a:defRPr sz="2200"/>
            </a:pPr>
            <a:r>
              <a:t>• Zetwerk: Marketplace unicorn, not IoT/SaaS</a:t>
            </a:r>
          </a:p>
          <a:p>
            <a:pPr>
              <a:spcAft>
                <a:spcPts val="1200"/>
              </a:spcAft>
              <a:defRPr sz="2200"/>
            </a:pPr>
            <a:r>
              <a:t>• GAPS: MSME focus, retrofit-first, WhatsApp alerts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Stakeholder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Factory Owners: Decision makers, need ROI proof</a:t>
            </a:r>
          </a:p>
          <a:p>
            <a:pPr>
              <a:spcAft>
                <a:spcPts val="1200"/>
              </a:spcAft>
              <a:defRPr sz="2200"/>
            </a:pPr>
            <a:r>
              <a:t>• Plant Managers: Blamed when things break</a:t>
            </a:r>
          </a:p>
          <a:p>
            <a:pPr>
              <a:spcAft>
                <a:spcPts val="1200"/>
              </a:spcAft>
              <a:defRPr sz="2200"/>
            </a:pPr>
            <a:r>
              <a:t>• Maintenance Teams: Daily users, mobile alerts</a:t>
            </a:r>
          </a:p>
          <a:p>
            <a:pPr>
              <a:spcAft>
                <a:spcPts val="1200"/>
              </a:spcAft>
              <a:defRPr sz="2200"/>
            </a:pPr>
            <a:r>
              <a:t>• System Integrators: Channel partners</a:t>
            </a:r>
          </a:p>
          <a:p>
            <a:pPr>
              <a:spcAft>
                <a:spcPts val="1200"/>
              </a:spcAft>
              <a:defRPr sz="2200"/>
            </a:pPr>
            <a:r>
              <a:t>• OEMs: Embed tech in new machines</a:t>
            </a:r>
          </a:p>
          <a:p>
            <a:pPr>
              <a:spcAft>
                <a:spcPts val="1200"/>
              </a:spcAft>
              <a:defRPr sz="2200"/>
            </a:pPr>
            <a:r>
              <a:t>• Government: SAMARTH, PLI administrators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Validation Interviews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MSME factory owner (50-200 workers)</a:t>
            </a:r>
          </a:p>
          <a:p>
            <a:pPr>
              <a:spcAft>
                <a:spcPts val="1200"/>
              </a:spcAft>
              <a:defRPr sz="2200"/>
            </a:pPr>
            <a:r>
              <a:t>• Maintenance manager at mid-size factory</a:t>
            </a:r>
          </a:p>
          <a:p>
            <a:pPr>
              <a:spcAft>
                <a:spcPts val="1200"/>
              </a:spcAft>
              <a:defRPr sz="2200"/>
            </a:pPr>
            <a:r>
              <a:t>• Failed IIoT startup founder — Lessons</a:t>
            </a:r>
          </a:p>
          <a:p>
            <a:pPr>
              <a:spcAft>
                <a:spcPts val="1200"/>
              </a:spcAft>
              <a:defRPr sz="2200"/>
            </a:pPr>
            <a:r>
              <a:t>• SAMARTH center coordinator</a:t>
            </a:r>
          </a:p>
          <a:p>
            <a:pPr>
              <a:spcAft>
                <a:spcPts val="1200"/>
              </a:spcAft>
              <a:defRPr sz="2200"/>
            </a:pPr>
            <a:r>
              <a:t>• Altizon/Flutura early employee</a:t>
            </a:r>
          </a:p>
          <a:p>
            <a:pPr>
              <a:spcAft>
                <a:spcPts val="1200"/>
              </a:spcAft>
              <a:defRPr sz="2200"/>
            </a:pPr>
            <a:r>
              <a:t>• Textile mill owner (Surat/Coimbatore)</a:t>
            </a:r>
          </a:p>
          <a:p>
            <a:pPr>
              <a:spcAft>
                <a:spcPts val="1200"/>
              </a:spcAft>
              <a:defRPr sz="2200"/>
            </a:pPr>
            <a:r>
              <a:t>• IIT Manufacturing faculty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GSRO: Government +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PLI Scheme: 14 sectors, ₹1.76L Cr, forces modernization</a:t>
            </a:r>
          </a:p>
          <a:p>
            <a:pPr>
              <a:spcAft>
                <a:spcPts val="1200"/>
              </a:spcAft>
              <a:defRPr sz="2200"/>
            </a:pPr>
            <a:r>
              <a:t>• SAMARTH Udyog: 5 Industry 4.0 demo centers</a:t>
            </a:r>
          </a:p>
          <a:p>
            <a:pPr>
              <a:spcAft>
                <a:spcPts val="1200"/>
              </a:spcAft>
              <a:defRPr sz="2200"/>
            </a:pPr>
            <a:r>
              <a:t>• Skill India: ₹8,800 Cr for manufacturing skills</a:t>
            </a:r>
          </a:p>
          <a:p>
            <a:pPr>
              <a:spcAft>
                <a:spcPts val="1200"/>
              </a:spcAft>
              <a:defRPr sz="2200"/>
            </a:pPr>
            <a:r>
              <a:t>• Karnataka 2025-30: Industry 4.0 incentives</a:t>
            </a:r>
          </a:p>
          <a:p>
            <a:pPr>
              <a:spcAft>
                <a:spcPts val="1200"/>
              </a:spcAft>
              <a:defRPr sz="2200"/>
            </a:pPr>
            <a:r>
              <a:t>• Research: CMTI Bengaluru, IIT Madras</a:t>
            </a:r>
          </a:p>
          <a:p>
            <a:pPr>
              <a:spcAft>
                <a:spcPts val="1200"/>
              </a:spcAft>
              <a:defRPr sz="2200"/>
            </a:pPr>
            <a:r>
              <a:t>• Opportunity: Govt marketing, pilot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Top Picks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#1 MSME Predictive Maintenance (Retrofit-First)</a:t>
            </a:r>
          </a:p>
          <a:p>
            <a:pPr>
              <a:spcAft>
                <a:spcPts val="1200"/>
              </a:spcAft>
              <a:defRPr sz="2200"/>
            </a:pPr>
            <a:r>
              <a:t>   → ₹15K kit + ₹5K/mo, WhatsApp alerts, 1-day install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#2 Vertical OEE for Textiles</a:t>
            </a:r>
          </a:p>
          <a:p>
            <a:pPr>
              <a:spcAft>
                <a:spcPts val="1200"/>
              </a:spcAft>
              <a:defRPr sz="2200"/>
            </a:pPr>
            <a:r>
              <a:t>   → 45M workers, $140B industry, loom sensors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#3 Quality AI for Pharma Packaging</a:t>
            </a:r>
          </a:p>
          <a:p>
            <a:pPr>
              <a:spcAft>
                <a:spcPts val="1200"/>
              </a:spcAft>
              <a:defRPr sz="2200"/>
            </a:pPr>
            <a:r>
              <a:t>   → Regulated = high WTP, camera + AI</a:t>
            </a:r>
          </a:p>
          <a:p>
            <a:pPr>
              <a:spcAft>
                <a:spcPts val="1200"/>
              </a:spcAft>
              <a:defRPr sz="2200"/>
            </a:pPr>
          </a:p>
          <a:p>
            <a:pPr>
              <a:spcAft>
                <a:spcPts val="1200"/>
              </a:spcAft>
              <a:defRPr sz="2200"/>
            </a:pPr>
            <a:r>
              <a:t>MOAT: India pricing (10% of US), Hindi UX,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