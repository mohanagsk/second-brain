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Arial"/>
              </a:defRPr>
            </a:pPr>
            <a:r>
              <a:t>DAILY SECTOR DEEP DIVE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"/>
              </a:defRPr>
            </a:pPr>
            <a:r>
              <a:t>Healthcare &amp; HealthTech</a:t>
            </a:r>
            <a:br/>
            <a:r>
              <a:t>(India B2B)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8D9E"/>
                </a:solidFill>
                <a:latin typeface="Arial"/>
              </a:defRPr>
            </a:pPr>
            <a:r>
              <a:t>Feb 5, 2026  •  by Mohana  •  Deep Dive 2 of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"Stop building pretty apps for patients.</a:t>
            </a:r>
            <a:br/>
            <a:r>
              <a:t>Build the ugly plumbing that makes hospitals work."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Arial"/>
              </a:defRPr>
            </a:pPr>
            <a:r>
              <a:t>🎯 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Imagine you run a 50-bed hospital in Jaipur.</a:t>
            </a:r>
            <a:br/>
            <a:br/>
            <a:r>
              <a:t>→ 3 doctors, 200 patients/day</a:t>
            </a:r>
            <a:br/>
            <a:r>
              <a:t>→ Paper records in rusty cabinets</a:t>
            </a:r>
            <a:br/>
            <a:r>
              <a:t>→ Insurance claims rejected (wrong codes)</a:t>
            </a:r>
            <a:br/>
            <a:r>
              <a:t>→ No idea if you're making or losing money</a:t>
            </a:r>
            <a:br/>
            <a:br/>
            <a:r>
              <a:t>Now multiply this by 1.5 million hospitals</a:t>
            </a:r>
            <a:br/>
            <a:r>
              <a:t>across India.</a:t>
            </a:r>
            <a:br/>
            <a:br/>
            <a:r>
              <a:t>That's healthcare B2B.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188720"/>
            <a:ext cx="5029200" cy="20116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THE PLOT TWIST</a:t>
            </a:r>
            <a:br/>
            <a:br/>
            <a:r>
              <a:t>Investors are LEAVING consumer healthtech</a:t>
            </a:r>
            <a:br/>
            <a:r>
              <a:t>(apps, telemedicine, pharmacy delivery)</a:t>
            </a:r>
            <a:br/>
            <a:br/>
            <a:r>
              <a:t>But FLOODING into B2B infrastructure —</a:t>
            </a:r>
            <a:br/>
            <a:r>
              <a:t>the boring pipes that make hospitals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657600"/>
            <a:ext cx="50292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800" b="1">
                <a:solidFill>
                  <a:srgbClr val="FFD700"/>
                </a:solidFill>
                <a:latin typeface="Arial"/>
              </a:defRPr>
            </a:pPr>
            <a:r>
              <a:t>Everyone built pretty storefronts.</a:t>
            </a:r>
            <a:br/>
            <a:r>
              <a:t>Nobody built the plumbing.</a:t>
            </a:r>
            <a:br/>
            <a:br/>
            <a:r>
              <a:t>The plumbing is where the money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📊 MARKET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$180B → $320B</a:t>
            </a:r>
            <a:br/>
            <a:br/>
            <a:r>
              <a:t>India Healthcare (12% CAGR)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59" y="1371600"/>
            <a:ext cx="34747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$14.5B → $107B</a:t>
            </a:r>
            <a:br/>
            <a:br/>
            <a:r>
              <a:t>Digital Health by 2033 (25% CAGR)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34747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$30B → $60B</a:t>
            </a:r>
            <a:br/>
            <a:br/>
            <a:r>
              <a:t>Healthcare Innovation by 2028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4747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1,313</a:t>
            </a:r>
            <a:br/>
            <a:br/>
            <a:r>
              <a:t>HealthTech SaaS Startups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3657600"/>
            <a:ext cx="34747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1 : 1,500</a:t>
            </a:r>
            <a:br/>
            <a:br/>
            <a:r>
              <a:t>Doctor-to-Patient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657600"/>
            <a:ext cx="34747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76%</a:t>
            </a:r>
            <a:br/>
            <a:br/>
            <a:r>
              <a:t>Specialist Shortage at CHCs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Arial"/>
              </a:defRPr>
            </a:pPr>
            <a:r>
              <a:t>🧠 VC THESIS — How Smart Money Thinks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💰 a16z Bio + Health</a:t>
            </a:r>
            <a:br/>
            <a:br/>
            <a:r>
              <a:t>"Moore's Law vs Eroom's Law"</a:t>
            </a:r>
            <a:br/>
            <a:br/>
            <a:r>
              <a:t>Tech gets cheaper. Healthcare gets MORE expensive.</a:t>
            </a:r>
            <a:br/>
            <a:br/>
            <a:r>
              <a:t>Winners: turn ₹2000/hr doctor time into ₹2/hr AI time.</a:t>
            </a:r>
            <a:br/>
            <a:br/>
            <a:r>
              <a:t>$500M fund with Eli Lilly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💰 General Catalyst</a:t>
            </a:r>
            <a:br/>
            <a:r>
              <a:t>$1.7B+ deployed</a:t>
            </a:r>
            <a:br/>
            <a:br/>
            <a:r>
              <a:t>"Health Assurance"</a:t>
            </a:r>
            <a:br/>
            <a:br/>
            <a:r>
              <a:t>Healthcare = insurance-for-wellness, not sick-care.</a:t>
            </a:r>
            <a:br/>
            <a:br/>
            <a:r>
              <a:t>Filter: "Does this work within how care is ACTUALLY delivered?"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💰 Bain &amp; Company</a:t>
            </a:r>
            <a:br/>
            <a:r>
              <a:t>India Report</a:t>
            </a:r>
            <a:br/>
            <a:br/>
            <a:r>
              <a:t>B2C healthtech = bloodbath</a:t>
            </a:r>
            <a:br/>
            <a:r>
              <a:t>B2B infrastructure = money</a:t>
            </a:r>
            <a:br/>
            <a:br/>
            <a:r>
              <a:t>80-90% deals at seed/A stage</a:t>
            </a:r>
            <a:br/>
            <a:r>
              <a:t>30% of VC → MedTech &amp; diagnostics</a:t>
            </a:r>
            <a:br/>
            <a:br/>
            <a:r>
              <a:t>The space is EARLY.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10972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One-line from all VCs: Stop building pretty apps for patients. Build the ugly plumbing that makes hospitals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4545"/>
                </a:solidFill>
                <a:latin typeface="Arial"/>
              </a:defRPr>
            </a:pPr>
            <a:r>
              <a:t>💀 GRAVEYARD — Who Died &amp; Why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114800"/>
          </a:xfrm>
          <a:prstGeom prst="roundRect">
            <a:avLst/>
          </a:prstGeom>
          <a:solidFill>
            <a:srgbClr val="3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400" b="0">
                <a:solidFill>
                  <a:srgbClr val="FF4545"/>
                </a:solidFill>
                <a:latin typeface="Arial"/>
              </a:defRPr>
            </a:pPr>
            <a:r>
              <a:t>📉 PharmEasy</a:t>
            </a:r>
            <a:br/>
            <a:br/>
            <a:r>
              <a:t>Was: $5.6B (2021)</a:t>
            </a:r>
            <a:br/>
            <a:r>
              <a:t>Now: $456M (-92%)</a:t>
            </a:r>
            <a:br/>
            <a:br/>
            <a:r>
              <a:t>Borrowed ₹2,500Cr from Goldman</a:t>
            </a:r>
            <a:br/>
            <a:r>
              <a:t>to buy Thyrocare for $600M.</a:t>
            </a:r>
            <a:br/>
            <a:r>
              <a:t>Acquisition now worth MORE than</a:t>
            </a:r>
            <a:br/>
            <a:r>
              <a:t>the entire company.</a:t>
            </a:r>
            <a:br/>
            <a:br/>
            <a:r>
              <a:t>Lesson: Don't buy companies</a:t>
            </a:r>
            <a:br/>
            <a:r>
              <a:t>with borrowed money in a bubble.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114800"/>
          </a:xfrm>
          <a:prstGeom prst="roundRect">
            <a:avLst/>
          </a:prstGeom>
          <a:solidFill>
            <a:srgbClr val="3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400" b="0">
                <a:solidFill>
                  <a:srgbClr val="FF4545"/>
                </a:solidFill>
                <a:latin typeface="Arial"/>
              </a:defRPr>
            </a:pPr>
            <a:r>
              <a:t>📉 mFine</a:t>
            </a:r>
            <a:br/>
            <a:br/>
            <a:r>
              <a:t>Raised: $48M</a:t>
            </a:r>
            <a:br/>
            <a:r>
              <a:t>Fired: 600 people (75%)</a:t>
            </a:r>
            <a:br/>
            <a:br/>
            <a:r>
              <a:t>Teleconsultation worked during</a:t>
            </a:r>
            <a:br/>
            <a:r>
              <a:t>COVID. Lockdowns ended →</a:t>
            </a:r>
            <a:br/>
            <a:r>
              <a:t>patients went back to doctors.</a:t>
            </a:r>
            <a:br/>
            <a:br/>
            <a:r>
              <a:t>Lesson: COVID adoption ≠</a:t>
            </a:r>
            <a:br/>
            <a:r>
              <a:t>real adoption. If it only works</a:t>
            </a:r>
            <a:br/>
            <a:r>
              <a:t>when people are locked in homes,</a:t>
            </a:r>
            <a:br/>
            <a:r>
              <a:t>it's a workaround, not a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114800"/>
          </a:xfrm>
          <a:prstGeom prst="roundRect">
            <a:avLst/>
          </a:prstGeom>
          <a:solidFill>
            <a:srgbClr val="3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400" b="0">
                <a:solidFill>
                  <a:srgbClr val="FF4545"/>
                </a:solidFill>
                <a:latin typeface="Arial"/>
              </a:defRPr>
            </a:pPr>
            <a:r>
              <a:t>📉 Lybrate</a:t>
            </a:r>
            <a:br/>
            <a:br/>
            <a:r>
              <a:t>Status: Alive, barely.</a:t>
            </a:r>
            <a:br/>
            <a:br/>
            <a:r>
              <a:t>Same teleconsultation bet.</a:t>
            </a:r>
            <a:br/>
            <a:r>
              <a:t>In India, talking to a doctor</a:t>
            </a:r>
            <a:br/>
            <a:r>
              <a:t>through a screen feels WRONG.</a:t>
            </a:r>
            <a:br/>
            <a:br/>
            <a:r>
              <a:t>Trust is built in person,</a:t>
            </a:r>
            <a:br/>
            <a:r>
              <a:t>especially Tier 2-3 cities.</a:t>
            </a:r>
            <a:br/>
            <a:br/>
            <a:r>
              <a:t>Lesson: Don't fight culture.</a:t>
            </a:r>
            <a:br/>
            <a:r>
              <a:t>Work WITH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676"/>
                </a:solidFill>
                <a:latin typeface="Arial"/>
              </a:defRPr>
            </a:pPr>
            <a:r>
              <a:t>🚀 WHO'S WINNING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651760" cy="4114800"/>
          </a:xfrm>
          <a:prstGeom prst="round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0">
                <a:solidFill>
                  <a:srgbClr val="00E676"/>
                </a:solidFill>
                <a:latin typeface="Arial"/>
              </a:defRPr>
            </a:pPr>
            <a:r>
              <a:t>✅ Qure.ai</a:t>
            </a:r>
            <a:br/>
            <a:br/>
            <a:r>
              <a:t>AI for X-rays/CT scans</a:t>
            </a:r>
            <a:br/>
            <a:r>
              <a:t>Rev: ₹140Cr, IPO in 2 years</a:t>
            </a:r>
            <a:br/>
            <a:r>
              <a:t>90+ countries</a:t>
            </a:r>
            <a:br/>
            <a:br/>
            <a:r>
              <a:t>"Grammarly for radiology"</a:t>
            </a:r>
            <a:br/>
            <a:r>
              <a:t>Helps read 100 scans/hr vs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371600"/>
            <a:ext cx="2651760" cy="4114800"/>
          </a:xfrm>
          <a:prstGeom prst="round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0">
                <a:solidFill>
                  <a:srgbClr val="00E676"/>
                </a:solidFill>
                <a:latin typeface="Arial"/>
              </a:defRPr>
            </a:pPr>
            <a:r>
              <a:t>✅ Eka Care</a:t>
            </a:r>
            <a:br/>
            <a:br/>
            <a:r>
              <a:t>EMR for India</a:t>
            </a:r>
            <a:br/>
            <a:r>
              <a:t>Gives DOCTORS a simple tool</a:t>
            </a:r>
            <a:br/>
            <a:br/>
            <a:r>
              <a:t>"Notion for patient data"</a:t>
            </a:r>
            <a:br/>
            <a:r>
              <a:t>Backed by Hummingbird, 3one4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651760" cy="4114800"/>
          </a:xfrm>
          <a:prstGeom prst="round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0">
                <a:solidFill>
                  <a:srgbClr val="00E676"/>
                </a:solidFill>
                <a:latin typeface="Arial"/>
              </a:defRPr>
            </a:pPr>
            <a:r>
              <a:t>✅ 5C Network</a:t>
            </a:r>
            <a:br/>
            <a:br/>
            <a:r>
              <a:t>AI radiology: rural → urban</a:t>
            </a:r>
            <a:br/>
            <a:r>
              <a:t>Dharwad → Bangalore in hours</a:t>
            </a:r>
            <a:br/>
            <a:br/>
            <a:r>
              <a:t>"Uber for radiology reading"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371600"/>
            <a:ext cx="2651760" cy="4114800"/>
          </a:xfrm>
          <a:prstGeom prst="round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0">
                <a:solidFill>
                  <a:srgbClr val="00E676"/>
                </a:solidFill>
                <a:latin typeface="Arial"/>
              </a:defRPr>
            </a:pPr>
            <a:r>
              <a:t>✅ HealthPlix</a:t>
            </a:r>
            <a:br/>
            <a:br/>
            <a:r>
              <a:t>25,000+ doctors</a:t>
            </a:r>
            <a:br/>
            <a:r>
              <a:t>Offline-first EMR</a:t>
            </a:r>
            <a:br/>
            <a:br/>
            <a:r>
              <a:t>Won because: Indian doctors</a:t>
            </a:r>
            <a:br/>
            <a:r>
              <a:t>don't have reliable WiFi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Arial"/>
              </a:defRPr>
            </a:pPr>
            <a:r>
              <a:t>🔟 10 PROBLEMS — Comparison 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# 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1005840"/>
            <a:ext cx="8686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005840"/>
            <a:ext cx="8686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05840"/>
            <a:ext cx="8686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005840"/>
            <a:ext cx="8686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05840"/>
            <a:ext cx="6858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Comp.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59" y="1005840"/>
            <a:ext cx="379476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One-liner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22402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1. Small Clinic EMR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55448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55448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★★★☆☆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55448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$2.4B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554480"/>
            <a:ext cx="6858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~15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59" y="1554480"/>
            <a:ext cx="379476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Shopify for doctors. 98% clinics untouched.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057400"/>
            <a:ext cx="22402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2. Insurance Claims 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057400"/>
            <a:ext cx="8686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2057400"/>
            <a:ext cx="8686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057400"/>
            <a:ext cx="8686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2057400"/>
            <a:ext cx="8686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$1.8B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057400"/>
            <a:ext cx="68580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~8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59" y="2057400"/>
            <a:ext cx="379476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Money-back machine. ₹2-3Cr/yr recovered.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60320"/>
            <a:ext cx="22402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3. AI Diagnostics T2-3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256032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39" y="256032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56032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256032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$3.2B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2560320"/>
            <a:ext cx="6858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~10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59" y="2560320"/>
            <a:ext cx="379476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Qure = Tesla. Need Tata Nexon for each specialty.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063240"/>
            <a:ext cx="22402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4. Hospital Revenue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3063240"/>
            <a:ext cx="868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9039" y="3063240"/>
            <a:ext cx="868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3063240"/>
            <a:ext cx="868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3063240"/>
            <a:ext cx="868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$890M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3063240"/>
            <a:ext cx="685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~20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59" y="3063240"/>
            <a:ext cx="37947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Razorpay dashboard for hospital money.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566160"/>
            <a:ext cx="22402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5. Medical Supply Chain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34640" y="356616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49039" y="356616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63440" y="356616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77840" y="356616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$2.5B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3566160"/>
            <a:ext cx="6858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~12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23759" y="3566160"/>
            <a:ext cx="379476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Udaan for hospitals. No one owns this yet.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069080"/>
            <a:ext cx="22402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6. ABHA Integration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34640" y="4069080"/>
            <a:ext cx="868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★★★☆☆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49039" y="4069080"/>
            <a:ext cx="868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★★★☆☆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0" y="4069080"/>
            <a:ext cx="868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77840" y="4069080"/>
            <a:ext cx="868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$500M+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4069080"/>
            <a:ext cx="685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~5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23759" y="4069080"/>
            <a:ext cx="37947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ABHA = UPI in 2017. Adoption layer wins.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572000"/>
            <a:ext cx="22402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7. AI Medical Scribe 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834640" y="4572000"/>
            <a:ext cx="8686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49039" y="4572000"/>
            <a:ext cx="8686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★★★☆☆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63440" y="4572000"/>
            <a:ext cx="8686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577840" y="4572000"/>
            <a:ext cx="8686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$1.2B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92240" y="4572000"/>
            <a:ext cx="68580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~3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23759" y="4572000"/>
            <a:ext cx="379476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Hindi-English medical speech. Wide open.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5074920"/>
            <a:ext cx="22402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8. Mental Health B2B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834640" y="5074920"/>
            <a:ext cx="868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749039" y="5074920"/>
            <a:ext cx="868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★★★★★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63440" y="5074920"/>
            <a:ext cx="868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★★★☆☆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577840" y="5074920"/>
            <a:ext cx="868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$2.3B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92240" y="5074920"/>
            <a:ext cx="685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~15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223759" y="5074920"/>
            <a:ext cx="37947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Buyer is HR, not patient. Compliance sale.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577840"/>
            <a:ext cx="22402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9. Clinical Trials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834640" y="557784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749039" y="557784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★★★★★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663440" y="557784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577840" y="5577840"/>
            <a:ext cx="86868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$800M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92240" y="5577840"/>
            <a:ext cx="6858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~6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223759" y="5577840"/>
            <a:ext cx="379476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Naukri for clinical trial patients.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8640" y="6080760"/>
            <a:ext cx="22402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10. Pharmacy Inventory ⭐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834640" y="6080760"/>
            <a:ext cx="8686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749039" y="6080760"/>
            <a:ext cx="8686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★★★★☆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63440" y="6080760"/>
            <a:ext cx="8686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★★☆☆☆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577840" y="6080760"/>
            <a:ext cx="86868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$1.1B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92240" y="6080760"/>
            <a:ext cx="68580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~10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23759" y="6080760"/>
            <a:ext cx="3794760" cy="4572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000" b="0">
                <a:solidFill>
                  <a:srgbClr val="1A1A2E"/>
                </a:solidFill>
                <a:latin typeface="Arial"/>
              </a:defRPr>
            </a:pPr>
            <a:r>
              <a:t>Khatabook for pharmacies. EASIEST 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Arial"/>
              </a:defRPr>
            </a:pPr>
            <a:r>
              <a:t>🏆 TOP 3 PICKS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🥇 #2 Insurance Claims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747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500" b="0">
                <a:solidFill>
                  <a:srgbClr val="FFFFFF"/>
                </a:solidFill>
                <a:latin typeface="Arial"/>
              </a:defRPr>
            </a:pPr>
            <a:r>
              <a:t>Pain: ★★★★★ | WTP: ★★★★★</a:t>
            </a:r>
            <a:br/>
            <a:br/>
            <a:r>
              <a:t>It's a 'money-back machine.'</a:t>
            </a:r>
            <a:br/>
            <a:r>
              <a:t>Show hospital they lose ₹2-3Cr/year.</a:t>
            </a:r>
            <a:br/>
            <a:r>
              <a:t>Charge ₹50K/month to fix it.</a:t>
            </a:r>
            <a:br/>
            <a:r>
              <a:t>Product pays for itself 10x.</a:t>
            </a:r>
            <a:br/>
            <a:br/>
            <a:r>
              <a:t>Closest thing to printing money</a:t>
            </a:r>
            <a:br/>
            <a:r>
              <a:t>in healthtech.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59" y="1280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🥈 #10 Pharmacy Inventory Mgmt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920240"/>
            <a:ext cx="34747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500" b="0">
                <a:solidFill>
                  <a:srgbClr val="FFFFFF"/>
                </a:solidFill>
                <a:latin typeface="Arial"/>
              </a:defRPr>
            </a:pPr>
            <a:r>
              <a:t>Pain: ★★★★☆ | Build: ★★☆☆☆</a:t>
            </a:r>
            <a:br/>
            <a:br/>
            <a:r>
              <a:t>EASIEST build on the list.</a:t>
            </a:r>
            <a:br/>
            <a:r>
              <a:t>900K pharmacies on paper/Marg ERP.</a:t>
            </a:r>
            <a:br/>
            <a:r>
              <a:t>WhatsApp-first AI inventory.</a:t>
            </a:r>
            <a:br/>
            <a:br/>
            <a:r>
              <a:t>Pitch: 'You lose ₹1.5L/year</a:t>
            </a:r>
            <a:br/>
            <a:r>
              <a:t>to expired stock.'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80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🥉 #7 AI Medical Scribe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920240"/>
            <a:ext cx="34747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500" b="0">
                <a:solidFill>
                  <a:srgbClr val="FFFFFF"/>
                </a:solidFill>
                <a:latin typeface="Arial"/>
              </a:defRPr>
            </a:pPr>
            <a:r>
              <a:t>Pain: ★★★★☆ | Build: ★★★★☆</a:t>
            </a:r>
            <a:br/>
            <a:br/>
            <a:r>
              <a:t>Nobody cracked Hindi-English</a:t>
            </a:r>
            <a:br/>
            <a:r>
              <a:t>medical speech in India.</a:t>
            </a:r>
            <a:br/>
            <a:r>
              <a:t>Abridge raised $250M in US.</a:t>
            </a:r>
            <a:br/>
            <a:br/>
            <a:r>
              <a:t>India version = wide open.</a:t>
            </a:r>
            <a:br/>
            <a:r>
              <a:t>First mover = gold.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💡 THE INVESTOR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/>
              </a:defRPr>
            </a:pPr>
            <a:r>
              <a:t>In healthtech, always ask one question:</a:t>
            </a:r>
            <a:br/>
            <a:br/>
            <a:r>
              <a:t>"Who is the BUYER?"</a:t>
            </a:r>
            <a:br/>
            <a:br/>
            <a:r>
              <a:t>If the patient pays → you'll bleed money (they won't pay)</a:t>
            </a:r>
            <a:br/>
            <a:r>
              <a:t>If the hospital/pharma pays → you have a business</a:t>
            </a:r>
            <a:br/>
            <a:br/>
            <a:r>
              <a:t>Every winner on this list sells to businesses, not patients.</a:t>
            </a:r>
            <a:br/>
            <a:r>
              <a:t>That's how VCs filter every healthtech deal.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Arial"/>
              </a:defRPr>
            </a:pPr>
            <a:r>
              <a:t>Next: Logistics &amp; Supply Chain  •  Tomorrow 6 PM IST  •  30 sectors in rotation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