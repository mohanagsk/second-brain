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HR &amp; Recruitment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4FF"/>
                </a:solidFill>
              </a:defRPr>
            </a:pPr>
            <a:r>
              <a:t>Daily Sector Research v2 | February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Market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19" y="2286000"/>
            <a:ext cx="3200400" cy="2286000"/>
          </a:xfrm>
          <a:prstGeom prst="roundRect">
            <a:avLst/>
          </a:prstGeom>
          <a:solidFill>
            <a:srgbClr val="1A1A3E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19" y="25603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$1.12B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19" y="36576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India HR Tech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2286000"/>
            <a:ext cx="3200400" cy="2286000"/>
          </a:xfrm>
          <a:prstGeom prst="roundRect">
            <a:avLst/>
          </a:prstGeom>
          <a:solidFill>
            <a:srgbClr val="1A1A3E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39" y="25603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$2.3B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6576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India HR Tech 2033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59" y="2286000"/>
            <a:ext cx="3200400" cy="2286000"/>
          </a:xfrm>
          <a:prstGeom prst="roundRect">
            <a:avLst/>
          </a:prstGeom>
          <a:solidFill>
            <a:srgbClr val="1A1A3E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59" y="25603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7.88%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59" y="36576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India CAGR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27080" y="2286000"/>
            <a:ext cx="3200400" cy="2286000"/>
          </a:xfrm>
          <a:prstGeom prst="roundRect">
            <a:avLst/>
          </a:prstGeom>
          <a:solidFill>
            <a:srgbClr val="1A1A3E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27080" y="25603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$76.4B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36576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Global 2030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5029200"/>
            <a:ext cx="3200400" cy="2286000"/>
          </a:xfrm>
          <a:prstGeom prst="roundRect">
            <a:avLst/>
          </a:prstGeom>
          <a:solidFill>
            <a:srgbClr val="1A1A3E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19" y="5303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</a:defRPr>
            </a:pPr>
            <a:r>
              <a:t>11.7%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19" y="6400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SME CAGR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5029200"/>
            <a:ext cx="3200400" cy="2286000"/>
          </a:xfrm>
          <a:prstGeom prst="roundRect">
            <a:avLst/>
          </a:prstGeom>
          <a:solidFill>
            <a:srgbClr val="1A1A3E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5303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</a:defRPr>
            </a:pPr>
            <a:r>
              <a:t>400M+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6400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Blue-collar Workforce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59" y="5029200"/>
            <a:ext cx="3200400" cy="2286000"/>
          </a:xfrm>
          <a:prstGeom prst="roundRect">
            <a:avLst/>
          </a:prstGeom>
          <a:solidFill>
            <a:srgbClr val="1A1A3E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59" y="5303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</a:defRPr>
            </a:pPr>
            <a:r>
              <a:t>~10%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6400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Formal Employment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27080" y="5029200"/>
            <a:ext cx="3200400" cy="2286000"/>
          </a:xfrm>
          <a:prstGeom prst="roundRect">
            <a:avLst/>
          </a:prstGeom>
          <a:solidFill>
            <a:srgbClr val="1A1A3E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27080" y="5303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</a:defRPr>
            </a:pPr>
            <a:r>
              <a:t>63M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6400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MSMEs in India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8229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Opportunity: New Labour 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November 21, 2025: 4 Labour Codes came into effect simultaneously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Code on Wages: Basic salary must be ≥50% of CTC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Code on Social Security: Unified PF, ESI, gratuity framework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Digital registers now mandatory — paper muster rolls are dead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Gig workers now covered under social security for first time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93% of 63M MSMEs still manage HR on Excel and WhatsApp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6-month urgency window (Nov 2025 - May 2026) = LAND GRAB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8229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YC Directory: What's Getting Funded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Deel (W2019): 5,000 employees, global EOR king, mega unicorn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Rippling (W2017): $1.2B raised, HR+IT+Finance unified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Alex (W2024): AI interviewer with live video conversations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DianaHR (W2024): AI-powered HR person for SMBs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Shor (S2025): EOR with stablecoins — cheaper than Deel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Central (S2024): 'Kills back-office work' via AI + humans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Pattern shift: Software to manage → AI that replaces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82296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Winners 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DARWINBOX: $180M raised in 2025 (KKR, Partners Group), Adidas/Starbucks clients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DEEL: 5,000 employees, YC W2019 → industry leader in 6 years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APNA: $1.1B valuation in 15 months, blue-collar focus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WORKINDIA: Fresh $10.8M (Dec 2025), Tier 2/3 expansion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Common thread: India-native, mobile-first, compliance built-in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8229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Graveyard 💀: Lessons from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leap.club: $2.3M raised, high CAC, couldn't monetize community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CodeParrot (YC): $500K burned in 'pivot hell', hit $1,500 MRR ceiling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GenWise: 30L users, ₹1 Cr revenue, ₹12 Cr loss — seniors don't pay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Hike: RMG ban killed monetization, US pivot too expensive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Key lessons: Speed matters. Users ≠ revenue. Don't bet on regulation.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822960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Stakeholder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DECISION MAKERS: HR Managers (day-to-day), CFOs (budget), CEOs (SMB sign-off)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INFLUENCERS: CAs &amp; payroll consultants (trusted advisors for MSMEs)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REGULATORS: EPFO (7Cr subscribers), ESIC (13.5Cr beneficiaries)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SERVICE PROVIDERS: Background verification, staffing agencies, training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TECH PARTNERS: Biometric devices, accounting software (Tally, Zoho)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DISTRIBUTION: CA partnerships &gt; sales teams for SMB segment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822960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People to Talk To (Validation)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HR Manager at 50-200 person manufacturing company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Factory owner in Tier 2 city (MSME reality check)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CA who handles payroll for 10+ SMBs (distribution partner!)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Staffing agency owner (blue-collar pain points)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Ex-Darwinbox/Keka employee (competitor intelligence)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EPFO/ESIC clerk (ground-level compliance reality)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Gig platform ops manager (Urban Company, Swiggy)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82296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Top 3 Opportunities For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🥇 LABOUR CODE COMPLIANCE FOR SMBs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    → 6-month urgency, CA distribution, ₹6-24 Cr ARR at 10K companies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🥈 WHATSAPP-FIRST HR FOR MANUFACTURING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    → 70% workforce, 10% tech attention, ₹2.4-6 Cr ARR at 1M employees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🥉 AI BACKGROUND VERIFICATION API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    → Checkr doesn't do India, 5-7 day → 24hr, ₹5-20 Cr at 1M checks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